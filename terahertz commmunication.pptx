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74" r:id="rId2"/>
    <p:sldId id="277" r:id="rId3"/>
    <p:sldId id="257" r:id="rId4"/>
    <p:sldId id="258" r:id="rId5"/>
    <p:sldId id="275" r:id="rId6"/>
    <p:sldId id="278" r:id="rId7"/>
    <p:sldId id="289" r:id="rId8"/>
    <p:sldId id="267" r:id="rId9"/>
    <p:sldId id="268" r:id="rId10"/>
    <p:sldId id="269" r:id="rId11"/>
    <p:sldId id="287" r:id="rId12"/>
    <p:sldId id="271" r:id="rId13"/>
    <p:sldId id="272"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0002BE-4C77-42B7-AE37-4C719A7E291A}" v="9" dt="2023-08-26T06:41:09.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9" d="100"/>
          <a:sy n="79" d="100"/>
        </p:scale>
        <p:origin x="1498"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2331944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98465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343123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2578356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305579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3312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169698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323633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62954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2199680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8B672-FEFE-4E29-A051-6B5BEA9E72E4}"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8FE19-FD30-46F7-8768-A87CF23B6AC6}" type="slidenum">
              <a:rPr lang="en-US" smtClean="0"/>
              <a:pPr/>
              <a:t>‹#›</a:t>
            </a:fld>
            <a:endParaRPr lang="en-US"/>
          </a:p>
        </p:txBody>
      </p:sp>
    </p:spTree>
    <p:extLst>
      <p:ext uri="{BB962C8B-B14F-4D97-AF65-F5344CB8AC3E}">
        <p14:creationId xmlns:p14="http://schemas.microsoft.com/office/powerpoint/2010/main" val="846505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F08B672-FEFE-4E29-A051-6B5BEA9E72E4}" type="datetimeFigureOut">
              <a:rPr lang="en-US" smtClean="0"/>
              <a:pPr/>
              <a:t>10/24/2024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0F8FE19-FD30-46F7-8768-A87CF23B6AC6}" type="slidenum">
              <a:rPr lang="en-US" smtClean="0"/>
              <a:pPr/>
              <a:t>‹#›</a:t>
            </a:fld>
            <a:endParaRPr lang="en-US"/>
          </a:p>
        </p:txBody>
      </p:sp>
    </p:spTree>
    <p:extLst>
      <p:ext uri="{BB962C8B-B14F-4D97-AF65-F5344CB8AC3E}">
        <p14:creationId xmlns:p14="http://schemas.microsoft.com/office/powerpoint/2010/main" val="295927439"/>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686800" cy="1524000"/>
          </a:xfrm>
        </p:spPr>
        <p:txBody>
          <a:bodyPr>
            <a:normAutofit/>
          </a:bodyPr>
          <a:lstStyle/>
          <a:p>
            <a:r>
              <a:rPr lang="en-US" sz="3200" dirty="0" smtClean="0">
                <a:solidFill>
                  <a:srgbClr val="C00000"/>
                </a:solidFill>
                <a:latin typeface="Times New Roman" pitchFamily="18" charset="0"/>
                <a:cs typeface="Times New Roman" pitchFamily="18" charset="0"/>
              </a:rPr>
              <a:t> </a:t>
            </a:r>
            <a:r>
              <a:rPr lang="en-US" sz="3200" dirty="0" smtClean="0">
                <a:solidFill>
                  <a:srgbClr val="FF0000"/>
                </a:solidFill>
                <a:latin typeface="Times New Roman" pitchFamily="18" charset="0"/>
                <a:cs typeface="Times New Roman" pitchFamily="18" charset="0"/>
              </a:rPr>
              <a:t>KAKATIYA INSTITUTE OF TECHNOLOGY </a:t>
            </a:r>
            <a:br>
              <a:rPr lang="en-US" sz="3200" dirty="0" smtClean="0">
                <a:solidFill>
                  <a:srgbClr val="FF0000"/>
                </a:solidFill>
                <a:latin typeface="Times New Roman" pitchFamily="18" charset="0"/>
                <a:cs typeface="Times New Roman" pitchFamily="18" charset="0"/>
              </a:rPr>
            </a:br>
            <a:r>
              <a:rPr lang="en-US" sz="3200" dirty="0" smtClean="0">
                <a:solidFill>
                  <a:srgbClr val="FF0000"/>
                </a:solidFill>
                <a:latin typeface="Times New Roman" pitchFamily="18" charset="0"/>
                <a:cs typeface="Times New Roman" pitchFamily="18" charset="0"/>
              </a:rPr>
              <a:t>                     &amp; SCIENCE FOR WOMEN</a:t>
            </a:r>
            <a:endParaRPr lang="en-US" sz="3200" dirty="0">
              <a:solidFill>
                <a:srgbClr val="FF0000"/>
              </a:solidFill>
            </a:endParaRPr>
          </a:p>
        </p:txBody>
      </p:sp>
      <p:sp>
        <p:nvSpPr>
          <p:cNvPr id="5" name="Content Placeholder 4"/>
          <p:cNvSpPr>
            <a:spLocks noGrp="1"/>
          </p:cNvSpPr>
          <p:nvPr>
            <p:ph idx="1"/>
          </p:nvPr>
        </p:nvSpPr>
        <p:spPr>
          <a:xfrm>
            <a:off x="457200" y="990600"/>
            <a:ext cx="8458200" cy="4572000"/>
          </a:xfrm>
        </p:spPr>
        <p:txBody>
          <a:bodyPr>
            <a:normAutofit fontScale="25000" lnSpcReduction="20000"/>
          </a:bodyPr>
          <a:lstStyle/>
          <a:p>
            <a:pPr>
              <a:buNone/>
            </a:pPr>
            <a:r>
              <a:rPr lang="en-US" sz="4400" dirty="0" smtClean="0">
                <a:solidFill>
                  <a:srgbClr val="00B050"/>
                </a:solidFill>
                <a:latin typeface="Times New Roman" pitchFamily="18" charset="0"/>
                <a:cs typeface="Times New Roman" pitchFamily="18" charset="0"/>
              </a:rPr>
              <a:t> </a:t>
            </a:r>
          </a:p>
          <a:p>
            <a:pPr>
              <a:buNone/>
            </a:pPr>
            <a:endParaRPr lang="en-US" sz="4400" dirty="0" smtClean="0">
              <a:solidFill>
                <a:srgbClr val="00B050"/>
              </a:solidFill>
              <a:latin typeface="Times New Roman" pitchFamily="18" charset="0"/>
              <a:cs typeface="Times New Roman" pitchFamily="18" charset="0"/>
            </a:endParaRPr>
          </a:p>
          <a:p>
            <a:pPr>
              <a:buNone/>
            </a:pPr>
            <a:endParaRPr lang="en-US" sz="4400" dirty="0" smtClean="0">
              <a:solidFill>
                <a:srgbClr val="00B050"/>
              </a:solidFill>
              <a:latin typeface="Times New Roman" pitchFamily="18" charset="0"/>
              <a:cs typeface="Times New Roman" pitchFamily="18" charset="0"/>
            </a:endParaRPr>
          </a:p>
          <a:p>
            <a:pPr>
              <a:buNone/>
            </a:pPr>
            <a:endParaRPr lang="en-US" sz="4400" dirty="0" smtClean="0">
              <a:solidFill>
                <a:srgbClr val="00B050"/>
              </a:solidFill>
              <a:latin typeface="Times New Roman" pitchFamily="18" charset="0"/>
              <a:cs typeface="Times New Roman" pitchFamily="18" charset="0"/>
            </a:endParaRPr>
          </a:p>
          <a:p>
            <a:pPr>
              <a:buNone/>
            </a:pPr>
            <a:endParaRPr lang="en-US" sz="4400" dirty="0" smtClean="0">
              <a:solidFill>
                <a:srgbClr val="00B050"/>
              </a:solidFill>
              <a:latin typeface="Times New Roman" pitchFamily="18" charset="0"/>
              <a:cs typeface="Times New Roman" pitchFamily="18" charset="0"/>
            </a:endParaRPr>
          </a:p>
          <a:p>
            <a:pPr>
              <a:buNone/>
            </a:pPr>
            <a:endParaRPr lang="en-US" sz="4400" dirty="0" smtClean="0">
              <a:solidFill>
                <a:srgbClr val="00B050"/>
              </a:solidFill>
              <a:latin typeface="Times New Roman" pitchFamily="18" charset="0"/>
              <a:cs typeface="Times New Roman" pitchFamily="18" charset="0"/>
            </a:endParaRPr>
          </a:p>
          <a:p>
            <a:pPr>
              <a:buNone/>
            </a:pPr>
            <a:endParaRPr lang="en-US" sz="4400" dirty="0" smtClean="0">
              <a:solidFill>
                <a:srgbClr val="00B050"/>
              </a:solidFill>
              <a:latin typeface="Times New Roman" pitchFamily="18" charset="0"/>
              <a:cs typeface="Times New Roman" pitchFamily="18" charset="0"/>
            </a:endParaRPr>
          </a:p>
          <a:p>
            <a:pPr>
              <a:buNone/>
            </a:pPr>
            <a:r>
              <a:rPr lang="en-US" sz="4400" dirty="0" smtClean="0">
                <a:solidFill>
                  <a:srgbClr val="00B050"/>
                </a:solidFill>
                <a:latin typeface="Times New Roman" pitchFamily="18" charset="0"/>
                <a:cs typeface="Times New Roman" pitchFamily="18" charset="0"/>
              </a:rPr>
              <a:t>                                       </a:t>
            </a:r>
          </a:p>
          <a:p>
            <a:pPr>
              <a:buNone/>
            </a:pPr>
            <a:endParaRPr lang="en-US" sz="4400" dirty="0" smtClean="0">
              <a:solidFill>
                <a:srgbClr val="00B050"/>
              </a:solidFill>
              <a:latin typeface="Times New Roman" pitchFamily="18" charset="0"/>
              <a:cs typeface="Times New Roman" pitchFamily="18" charset="0"/>
            </a:endParaRPr>
          </a:p>
          <a:p>
            <a:pPr>
              <a:buNone/>
            </a:pPr>
            <a:r>
              <a:rPr lang="en-US" sz="4400" dirty="0" smtClean="0">
                <a:solidFill>
                  <a:srgbClr val="00B050"/>
                </a:solidFill>
                <a:latin typeface="Times New Roman" pitchFamily="18" charset="0"/>
                <a:cs typeface="Times New Roman" pitchFamily="18" charset="0"/>
              </a:rPr>
              <a:t>                                    </a:t>
            </a:r>
          </a:p>
          <a:p>
            <a:pPr>
              <a:buNone/>
            </a:pPr>
            <a:endParaRPr lang="en-US" sz="4400" dirty="0" smtClean="0">
              <a:solidFill>
                <a:srgbClr val="00B050"/>
              </a:solidFill>
              <a:latin typeface="Times New Roman" pitchFamily="18" charset="0"/>
              <a:cs typeface="Times New Roman" pitchFamily="18" charset="0"/>
            </a:endParaRPr>
          </a:p>
          <a:p>
            <a:pPr>
              <a:buNone/>
            </a:pPr>
            <a:r>
              <a:rPr lang="en-US" sz="9800" dirty="0" smtClean="0">
                <a:solidFill>
                  <a:srgbClr val="00B050"/>
                </a:solidFill>
                <a:latin typeface="Times New Roman" pitchFamily="18" charset="0"/>
                <a:cs typeface="Times New Roman" pitchFamily="18" charset="0"/>
              </a:rPr>
              <a:t>                                                                </a:t>
            </a:r>
          </a:p>
          <a:p>
            <a:pPr>
              <a:buNone/>
            </a:pPr>
            <a:r>
              <a:rPr lang="en-US" sz="9800" dirty="0" smtClean="0">
                <a:solidFill>
                  <a:srgbClr val="00B050"/>
                </a:solidFill>
                <a:latin typeface="Times New Roman" pitchFamily="18" charset="0"/>
                <a:cs typeface="Times New Roman" pitchFamily="18" charset="0"/>
              </a:rPr>
              <a:t>		                   </a:t>
            </a:r>
          </a:p>
          <a:p>
            <a:pPr algn="just">
              <a:buNone/>
            </a:pPr>
            <a:r>
              <a:rPr lang="en-US" sz="9800" dirty="0" smtClean="0">
                <a:solidFill>
                  <a:srgbClr val="00B050"/>
                </a:solidFill>
                <a:latin typeface="Times New Roman" pitchFamily="18" charset="0"/>
                <a:cs typeface="Times New Roman" pitchFamily="18" charset="0"/>
              </a:rPr>
              <a:t>                            </a:t>
            </a:r>
            <a:r>
              <a:rPr lang="en-US" sz="12800" b="1" dirty="0" smtClean="0">
                <a:solidFill>
                  <a:srgbClr val="00B050"/>
                </a:solidFill>
                <a:latin typeface="Times New Roman" pitchFamily="18" charset="0"/>
                <a:cs typeface="Times New Roman" pitchFamily="18" charset="0"/>
              </a:rPr>
              <a:t>A SEMINOR ON</a:t>
            </a:r>
          </a:p>
          <a:p>
            <a:pPr algn="ctr">
              <a:buNone/>
            </a:pPr>
            <a:r>
              <a:rPr lang="en-US" sz="12800" b="1" dirty="0" smtClean="0">
                <a:solidFill>
                  <a:schemeClr val="accent6">
                    <a:lumMod val="60000"/>
                    <a:lumOff val="40000"/>
                  </a:schemeClr>
                </a:solidFill>
                <a:latin typeface="Times New Roman" pitchFamily="18" charset="0"/>
                <a:cs typeface="Times New Roman" pitchFamily="18" charset="0"/>
              </a:rPr>
              <a:t>TERAHERTZ COMMUNICATIONS</a:t>
            </a:r>
          </a:p>
          <a:p>
            <a:pPr>
              <a:buNone/>
            </a:pPr>
            <a:r>
              <a:rPr lang="en-US" sz="9800" dirty="0" smtClean="0">
                <a:solidFill>
                  <a:srgbClr val="00B050"/>
                </a:solidFill>
                <a:latin typeface="Times New Roman" pitchFamily="18" charset="0"/>
                <a:cs typeface="Times New Roman" pitchFamily="18" charset="0"/>
              </a:rPr>
              <a:t>				</a:t>
            </a:r>
            <a:endParaRPr lang="en-US" sz="4600" dirty="0"/>
          </a:p>
        </p:txBody>
      </p:sp>
      <p:pic>
        <p:nvPicPr>
          <p:cNvPr id="6" name="Picture 3" descr="C:\Users\Dell\Downloads\IMG_20230826_185452.jpg"/>
          <p:cNvPicPr>
            <a:picLocks noChangeAspect="1" noChangeArrowheads="1"/>
          </p:cNvPicPr>
          <p:nvPr/>
        </p:nvPicPr>
        <p:blipFill>
          <a:blip r:embed="rId2"/>
          <a:srcRect/>
          <a:stretch>
            <a:fillRect/>
          </a:stretch>
        </p:blipFill>
        <p:spPr bwMode="auto">
          <a:xfrm>
            <a:off x="3429000" y="1629747"/>
            <a:ext cx="2209800" cy="1905000"/>
          </a:xfrm>
          <a:prstGeom prst="rect">
            <a:avLst/>
          </a:prstGeom>
          <a:noFill/>
        </p:spPr>
      </p:pic>
      <p:sp>
        <p:nvSpPr>
          <p:cNvPr id="2" name="TextBox 1"/>
          <p:cNvSpPr txBox="1"/>
          <p:nvPr/>
        </p:nvSpPr>
        <p:spPr>
          <a:xfrm>
            <a:off x="5410200" y="5545494"/>
            <a:ext cx="3276600" cy="646331"/>
          </a:xfrm>
          <a:prstGeom prst="rect">
            <a:avLst/>
          </a:prstGeom>
          <a:noFill/>
        </p:spPr>
        <p:txBody>
          <a:bodyPr wrap="square" rtlCol="0">
            <a:spAutoFit/>
          </a:bodyPr>
          <a:lstStyle/>
          <a:p>
            <a:r>
              <a:rPr lang="en-US" dirty="0" smtClean="0"/>
              <a:t>PRESENTED BY:</a:t>
            </a:r>
          </a:p>
          <a:p>
            <a:r>
              <a:rPr lang="en-US" dirty="0" smtClean="0">
                <a:solidFill>
                  <a:schemeClr val="accent2"/>
                </a:solidFill>
              </a:rPr>
              <a:t>D.RAGASRI </a:t>
            </a:r>
            <a:r>
              <a:rPr lang="en-US" dirty="0" smtClean="0">
                <a:solidFill>
                  <a:schemeClr val="accent2"/>
                </a:solidFill>
              </a:rPr>
              <a:t>(</a:t>
            </a:r>
            <a:r>
              <a:rPr lang="en-US" dirty="0" smtClean="0">
                <a:solidFill>
                  <a:schemeClr val="accent2"/>
                </a:solidFill>
                <a:latin typeface="Times New Roman" panose="02020603050405020304" pitchFamily="18" charset="0"/>
                <a:cs typeface="Times New Roman" panose="02020603050405020304" pitchFamily="18" charset="0"/>
              </a:rPr>
              <a:t>226B5A0408</a:t>
            </a:r>
            <a:r>
              <a:rPr lang="en-US" dirty="0" smtClean="0">
                <a:solidFill>
                  <a:schemeClr val="accent2"/>
                </a:solidFill>
              </a:rPr>
              <a:t>)</a:t>
            </a:r>
            <a:endParaRPr lang="en-US" dirty="0">
              <a:solidFill>
                <a:schemeClr val="accent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28598"/>
            <a:ext cx="4038600" cy="1143000"/>
          </a:xfrm>
        </p:spPr>
        <p:txBody>
          <a:bodyPr>
            <a:normAutofit/>
          </a:bodyPr>
          <a:lstStyle/>
          <a:p>
            <a:r>
              <a:rPr lang="en-US" dirty="0" smtClean="0">
                <a:solidFill>
                  <a:srgbClr val="FF0000"/>
                </a:solidFill>
                <a:latin typeface="Times New Roman" pitchFamily="18" charset="0"/>
                <a:cs typeface="Times New Roman" pitchFamily="18" charset="0"/>
              </a:rPr>
              <a:t>ABSTRACT:</a:t>
            </a:r>
            <a:endParaRPr lang="en-US" dirty="0">
              <a:solidFill>
                <a:srgbClr val="FF0000"/>
              </a:solidFill>
              <a:latin typeface="Times New Roman" pitchFamily="18" charset="0"/>
              <a:cs typeface="Times New Roman" pitchFamily="18" charset="0"/>
            </a:endParaRPr>
          </a:p>
        </p:txBody>
      </p:sp>
      <p:sp>
        <p:nvSpPr>
          <p:cNvPr id="7" name="Content Placeholder 6"/>
          <p:cNvSpPr>
            <a:spLocks noGrp="1"/>
          </p:cNvSpPr>
          <p:nvPr>
            <p:ph idx="1"/>
          </p:nvPr>
        </p:nvSpPr>
        <p:spPr>
          <a:xfrm>
            <a:off x="381000" y="1219200"/>
            <a:ext cx="4800600" cy="4525963"/>
          </a:xfrm>
        </p:spPr>
        <p:txBody>
          <a:bodyPr>
            <a:normAutofit fontScale="85000" lnSpcReduction="20000"/>
          </a:bodyPr>
          <a:lstStyle/>
          <a:p>
            <a:pPr algn="just">
              <a:lnSpc>
                <a:spcPct val="16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Terahertz (THz) communication is an emerging technology that utilizes the terahertz frequency range (0.1 to 10 THz) for wireless data transmission. </a:t>
            </a:r>
            <a:endParaRPr lang="en-US" sz="2400" dirty="0" smtClean="0">
              <a:latin typeface="Times New Roman" panose="02020603050405020304" pitchFamily="18" charset="0"/>
              <a:cs typeface="Times New Roman" panose="02020603050405020304" pitchFamily="18" charset="0"/>
            </a:endParaRPr>
          </a:p>
          <a:p>
            <a:pPr algn="just">
              <a:lnSpc>
                <a:spcPct val="16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novel approach leverages the unique properties of THz waves, such as high bandwidth and low latency, to facilitate ultra-fast communication systems capable of meeting the demands of next-generation networks</a:t>
            </a:r>
            <a:r>
              <a:rPr lang="en-US" sz="2400" dirty="0" smtClean="0">
                <a:latin typeface="Times New Roman" panose="02020603050405020304" pitchFamily="18" charset="0"/>
                <a:cs typeface="Times New Roman" panose="02020603050405020304" pitchFamily="18" charset="0"/>
              </a:rPr>
              <a:t>.</a:t>
            </a:r>
          </a:p>
          <a:p>
            <a:pPr marL="109728" indent="0">
              <a:buNone/>
            </a:pPr>
            <a:endParaRPr lang="en-US" dirty="0"/>
          </a:p>
        </p:txBody>
      </p:sp>
      <p:sp>
        <p:nvSpPr>
          <p:cNvPr id="4" name="Rectangle 1"/>
          <p:cNvSpPr>
            <a:spLocks noChangeArrowheads="1"/>
          </p:cNvSpPr>
          <p:nvPr/>
        </p:nvSpPr>
        <p:spPr bwMode="auto">
          <a:xfrm>
            <a:off x="0" y="-94567"/>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r="6587" b="18341"/>
          <a:stretch/>
        </p:blipFill>
        <p:spPr>
          <a:xfrm>
            <a:off x="5334000" y="1400780"/>
            <a:ext cx="3733800" cy="3628419"/>
          </a:xfrm>
          <a:prstGeom prst="rect">
            <a:avLst/>
          </a:prstGeom>
          <a:ln>
            <a:noFill/>
          </a:ln>
          <a:effectLst>
            <a:glow rad="139700">
              <a:schemeClr val="accent3">
                <a:satMod val="175000"/>
                <a:alpha val="40000"/>
              </a:schemeClr>
            </a:glow>
            <a:outerShdw blurRad="152400" dist="317500" dir="5400000" sx="90000" sy="-19000" rotWithShape="0">
              <a:prstClr val="black">
                <a:alpha val="15000"/>
              </a:prstClr>
            </a:outerShdw>
          </a:effectLst>
          <a:scene3d>
            <a:camera prst="orthographicFront">
              <a:rot lat="0" lon="0" rev="0"/>
            </a:camera>
            <a:lightRig rig="balanced" dir="t">
              <a:rot lat="0" lon="0" rev="8700000"/>
            </a:lightRig>
          </a:scene3d>
          <a:sp3d>
            <a:bevelT w="190500" h="38100"/>
          </a:sp3d>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04800"/>
            <a:ext cx="7804280" cy="1096962"/>
          </a:xfrm>
        </p:spPr>
        <p:txBody>
          <a:bodyPr/>
          <a:lstStyle/>
          <a:p>
            <a:r>
              <a:rPr lang="en-US" dirty="0">
                <a:solidFill>
                  <a:srgbClr val="FF0000"/>
                </a:solidFill>
                <a:latin typeface="Times New Roman" panose="02020603050405020304" pitchFamily="18" charset="0"/>
                <a:cs typeface="Times New Roman" panose="02020603050405020304" pitchFamily="18" charset="0"/>
              </a:rPr>
              <a:t>CONTENTS:</a:t>
            </a:r>
          </a:p>
        </p:txBody>
      </p:sp>
      <p:sp>
        <p:nvSpPr>
          <p:cNvPr id="2" name="Content Placeholder 1"/>
          <p:cNvSpPr>
            <a:spLocks noGrp="1"/>
          </p:cNvSpPr>
          <p:nvPr>
            <p:ph idx="1"/>
          </p:nvPr>
        </p:nvSpPr>
        <p:spPr>
          <a:xfrm>
            <a:off x="749030" y="685800"/>
            <a:ext cx="8229600" cy="4525963"/>
          </a:xfrm>
        </p:spPr>
        <p:txBody>
          <a:bodyPr>
            <a:normAutofit/>
          </a:bodyPr>
          <a:lstStyle/>
          <a:p>
            <a:pPr marL="0" indent="0">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Introduction</a:t>
            </a:r>
          </a:p>
          <a:p>
            <a:r>
              <a:rPr lang="en-US" sz="24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erahertz </a:t>
            </a:r>
            <a:r>
              <a:rPr lang="en-US" sz="2400" dirty="0" smtClean="0">
                <a:latin typeface="Times New Roman" pitchFamily="18" charset="0"/>
                <a:cs typeface="Times New Roman" pitchFamily="18" charset="0"/>
              </a:rPr>
              <a:t>communication </a:t>
            </a:r>
            <a:r>
              <a:rPr lang="en-US" sz="2400" dirty="0" smtClean="0">
                <a:latin typeface="Times New Roman" pitchFamily="18" charset="0"/>
                <a:cs typeface="Times New Roman" pitchFamily="18" charset="0"/>
              </a:rPr>
              <a:t>uses</a:t>
            </a:r>
          </a:p>
          <a:p>
            <a:r>
              <a:rPr lang="en-US" sz="2400" dirty="0" smtClean="0">
                <a:latin typeface="Times New Roman" pitchFamily="18" charset="0"/>
                <a:cs typeface="Times New Roman" pitchFamily="18" charset="0"/>
              </a:rPr>
              <a:t>Prototype THz</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Challenges with THz </a:t>
            </a:r>
            <a:r>
              <a:rPr lang="en-US" sz="2400" dirty="0" smtClean="0">
                <a:latin typeface="Times New Roman" pitchFamily="18" charset="0"/>
                <a:cs typeface="Times New Roman" pitchFamily="18" charset="0"/>
              </a:rPr>
              <a:t>communication</a:t>
            </a:r>
          </a:p>
          <a:p>
            <a:r>
              <a:rPr lang="en-US" sz="2400" dirty="0" smtClean="0">
                <a:latin typeface="Times New Roman" pitchFamily="18" charset="0"/>
                <a:cs typeface="Times New Roman" pitchFamily="18" charset="0"/>
              </a:rPr>
              <a:t>Application</a:t>
            </a:r>
          </a:p>
          <a:p>
            <a:r>
              <a:rPr lang="en-US" sz="2400" dirty="0" smtClean="0">
                <a:latin typeface="Times New Roman" pitchFamily="18" charset="0"/>
                <a:cs typeface="Times New Roman" pitchFamily="18" charset="0"/>
              </a:rPr>
              <a:t>Advantages</a:t>
            </a:r>
          </a:p>
          <a:p>
            <a:r>
              <a:rPr lang="en-US" sz="2400" dirty="0" smtClean="0">
                <a:latin typeface="Times New Roman" pitchFamily="18" charset="0"/>
                <a:cs typeface="Times New Roman" pitchFamily="18" charset="0"/>
              </a:rPr>
              <a:t>Disadvantages</a:t>
            </a:r>
          </a:p>
          <a:p>
            <a:r>
              <a:rPr lang="en-US" sz="2400" dirty="0" smtClean="0">
                <a:latin typeface="Times New Roman" pitchFamily="18" charset="0"/>
                <a:cs typeface="Times New Roman" pitchFamily="18" charset="0"/>
              </a:rPr>
              <a:t>Proposed system</a:t>
            </a:r>
          </a:p>
          <a:p>
            <a:r>
              <a:rPr lang="en-US" sz="2400" dirty="0" smtClean="0">
                <a:latin typeface="Times New Roman" pitchFamily="18" charset="0"/>
                <a:cs typeface="Times New Roman" pitchFamily="18" charset="0"/>
              </a:rPr>
              <a:t>Conclusion</a:t>
            </a:r>
          </a:p>
          <a:p>
            <a:pPr marL="0" indent="0">
              <a:buNone/>
            </a:pP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04800"/>
            <a:ext cx="7641437" cy="1981200"/>
          </a:xfrm>
        </p:spPr>
        <p:txBody>
          <a:bodyPr/>
          <a:lstStyle/>
          <a:p>
            <a:r>
              <a:rPr lang="en-US" dirty="0" smtClean="0">
                <a:solidFill>
                  <a:srgbClr val="FF0000"/>
                </a:solidFill>
                <a:latin typeface="Times New Roman" pitchFamily="18" charset="0"/>
                <a:cs typeface="Times New Roman" pitchFamily="18" charset="0"/>
              </a:rPr>
              <a:t>INTRODUCTION:</a:t>
            </a:r>
            <a:endParaRPr lang="en-US" dirty="0">
              <a:solidFill>
                <a:srgbClr val="FF0000"/>
              </a:solidFill>
              <a:latin typeface="Times New Roman" pitchFamily="18" charset="0"/>
              <a:cs typeface="Times New Roman" pitchFamily="18" charset="0"/>
            </a:endParaRPr>
          </a:p>
        </p:txBody>
      </p:sp>
      <p:sp>
        <p:nvSpPr>
          <p:cNvPr id="2" name="Content Placeholder 1"/>
          <p:cNvSpPr>
            <a:spLocks noGrp="1"/>
          </p:cNvSpPr>
          <p:nvPr>
            <p:ph idx="1"/>
          </p:nvPr>
        </p:nvSpPr>
        <p:spPr>
          <a:xfrm>
            <a:off x="685800" y="838200"/>
            <a:ext cx="7924799" cy="2895600"/>
          </a:xfrm>
        </p:spPr>
        <p:txBody>
          <a:bodyPr>
            <a:noAutofit/>
          </a:bodyPr>
          <a:lstStyle/>
          <a:p>
            <a:pPr algn="just">
              <a:lnSpc>
                <a:spcPct val="150000"/>
              </a:lnSpc>
              <a:buFont typeface="Arial" panose="020B0604020202020204" pitchFamily="34" charset="0"/>
              <a:buChar char="•"/>
            </a:pPr>
            <a:r>
              <a:rPr lang="en-US" sz="2400" dirty="0" smtClean="0">
                <a:latin typeface="Times New Roman" pitchFamily="18" charset="0"/>
                <a:cs typeface="Times New Roman" pitchFamily="18" charset="0"/>
              </a:rPr>
              <a:t>Terahertz (THz) band communication are eminent as </a:t>
            </a:r>
            <a:r>
              <a:rPr lang="en-US" sz="2400" dirty="0" smtClean="0">
                <a:latin typeface="Times New Roman" pitchFamily="18" charset="0"/>
                <a:cs typeface="Times New Roman" pitchFamily="18" charset="0"/>
              </a:rPr>
              <a:t>key </a:t>
            </a:r>
            <a:r>
              <a:rPr lang="en-US" sz="2400" dirty="0" smtClean="0">
                <a:latin typeface="Times New Roman" pitchFamily="18" charset="0"/>
                <a:cs typeface="Times New Roman" pitchFamily="18" charset="0"/>
              </a:rPr>
              <a:t>aiding technology for next generation wireless system that assures to integrate a wide range of data demanding and delay sensitive </a:t>
            </a:r>
            <a:r>
              <a:rPr lang="en-US" sz="2400" dirty="0" smtClean="0">
                <a:latin typeface="Times New Roman" pitchFamily="18" charset="0"/>
                <a:cs typeface="Times New Roman" pitchFamily="18" charset="0"/>
              </a:rPr>
              <a:t>application. Advancement </a:t>
            </a:r>
            <a:r>
              <a:rPr lang="en-US" sz="2400" dirty="0" smtClean="0">
                <a:latin typeface="Times New Roman" pitchFamily="18" charset="0"/>
                <a:cs typeface="Times New Roman" pitchFamily="18" charset="0"/>
              </a:rPr>
              <a:t>in optical, electronic, and plasmonic transceiver design, integrated, adaptive, and efficient THz systems are no longer far-fetched.</a:t>
            </a:r>
          </a:p>
          <a:p>
            <a:pPr marL="109728" indent="0" algn="just">
              <a:lnSpc>
                <a:spcPct val="150000"/>
              </a:lnSpc>
              <a:buNone/>
            </a:pPr>
            <a:endParaRPr lang="en-US" sz="1800" dirty="0" smtClean="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295400" y="4191000"/>
            <a:ext cx="6934200" cy="2514600"/>
          </a:xfrm>
          <a:prstGeom prst="rect">
            <a:avLst/>
          </a:prstGeom>
          <a:effectLst>
            <a:glow rad="228600">
              <a:schemeClr val="accent3">
                <a:satMod val="175000"/>
                <a:alpha val="40000"/>
              </a:schemeClr>
            </a:glo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04800"/>
            <a:ext cx="8229600" cy="5638800"/>
          </a:xfrm>
        </p:spPr>
        <p:txBody>
          <a:bodyPr anchor="t">
            <a:normAutofit/>
          </a:bodyPr>
          <a:lstStyle/>
          <a:p>
            <a:pPr algn="just">
              <a:buFont typeface="Arial" panose="020B0604020202020204" pitchFamily="34" charset="0"/>
              <a:buChar char="•"/>
            </a:pPr>
            <a:r>
              <a:rPr lang="en-US" sz="2400" dirty="0" smtClean="0">
                <a:latin typeface="Times New Roman" pitchFamily="18" charset="0"/>
                <a:cs typeface="Times New Roman" pitchFamily="18" charset="0"/>
              </a:rPr>
              <a:t>The terahertz band (0.3 thz to 10 thz)is the next edge in wireless communications for its knack to expose significantly wider divisions of unutilized bandwidth.</a:t>
            </a:r>
          </a:p>
          <a:p>
            <a:pPr algn="just">
              <a:buFont typeface="Arial" panose="020B0604020202020204" pitchFamily="34" charset="0"/>
              <a:buChar char="•"/>
            </a:pPr>
            <a:r>
              <a:rPr lang="en-US" sz="2400" dirty="0" smtClean="0">
                <a:latin typeface="Times New Roman" pitchFamily="18" charset="0"/>
                <a:cs typeface="Times New Roman" pitchFamily="18" charset="0"/>
              </a:rPr>
              <a:t>Though radio channels above 100 ghz are little known, and many terahertz communication models had been shown in few past years</a:t>
            </a:r>
            <a:r>
              <a:rPr lang="en-US" dirty="0" smtClean="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700" y="2743200"/>
            <a:ext cx="7163800" cy="281940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2634" y="152400"/>
            <a:ext cx="8229600" cy="838200"/>
          </a:xfrm>
        </p:spPr>
        <p:txBody>
          <a:bodyPr>
            <a:noAutofit/>
          </a:bodyPr>
          <a:lstStyle/>
          <a:p>
            <a:r>
              <a:rPr lang="en-US" dirty="0" smtClean="0">
                <a:solidFill>
                  <a:srgbClr val="FF0000"/>
                </a:solidFill>
                <a:latin typeface="Times New Roman" pitchFamily="18" charset="0"/>
                <a:cs typeface="Times New Roman" pitchFamily="18" charset="0"/>
              </a:rPr>
              <a:t>THz uses:</a:t>
            </a:r>
            <a:endParaRPr lang="en-US" dirty="0">
              <a:solidFill>
                <a:srgbClr val="FF0000"/>
              </a:solidFill>
              <a:latin typeface="Times New Roman" pitchFamily="18" charset="0"/>
              <a:cs typeface="Times New Roman" pitchFamily="18" charset="0"/>
            </a:endParaRPr>
          </a:p>
        </p:txBody>
      </p:sp>
      <p:sp>
        <p:nvSpPr>
          <p:cNvPr id="5" name="Content Placeholder 4"/>
          <p:cNvSpPr>
            <a:spLocks noGrp="1"/>
          </p:cNvSpPr>
          <p:nvPr>
            <p:ph idx="1"/>
          </p:nvPr>
        </p:nvSpPr>
        <p:spPr>
          <a:xfrm>
            <a:off x="0" y="685800"/>
            <a:ext cx="8874868" cy="6248400"/>
          </a:xfrm>
        </p:spPr>
        <p:txBody>
          <a:bodyPr>
            <a:no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THz-band communications are expected to play a vital role in the upcoming sixth-generation of wireless mobile communication, enabling ultra-high bandwidth communication prototypes.</a:t>
            </a:r>
          </a:p>
          <a:p>
            <a:pPr algn="just">
              <a:lnSpc>
                <a:spcPct val="150000"/>
              </a:lnSpc>
            </a:pPr>
            <a:r>
              <a:rPr lang="en-US" sz="2400" dirty="0" smtClean="0">
                <a:latin typeface="Times New Roman" panose="02020603050405020304" pitchFamily="18" charset="0"/>
                <a:cs typeface="Times New Roman" panose="02020603050405020304" pitchFamily="18" charset="0"/>
              </a:rPr>
              <a:t>Despite the fact that by definition the THz band extends from 300ghz to 10thz,researchers have found it convenient to categorize beyond-100GHz applications as thz communications, below which the millimeter- wave bands of 5G are defined.</a:t>
            </a: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2133600" y="4660221"/>
            <a:ext cx="5638800" cy="1969179"/>
          </a:xfrm>
          <a:prstGeom prst="rect">
            <a:avLst/>
          </a:prstGeom>
          <a:scene3d>
            <a:camera prst="orthographicFront"/>
            <a:lightRig rig="threePt" dir="t"/>
          </a:scene3d>
          <a:sp3d>
            <a:bevelT prst="relaxedInset"/>
          </a:sp3d>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4762" y="-249677"/>
            <a:ext cx="8229600" cy="1621277"/>
          </a:xfrm>
        </p:spPr>
        <p:txBody>
          <a:bodyPr>
            <a:noAutofit/>
          </a:bodyPr>
          <a:lstStyle/>
          <a:p>
            <a:r>
              <a:rPr lang="en-US" dirty="0" smtClean="0">
                <a:solidFill>
                  <a:srgbClr val="FF0000"/>
                </a:solidFill>
                <a:latin typeface="Times New Roman" panose="02020603050405020304" pitchFamily="18" charset="0"/>
                <a:cs typeface="Times New Roman" panose="02020603050405020304" pitchFamily="18" charset="0"/>
              </a:rPr>
              <a:t>PROTOTYPING THz </a:t>
            </a:r>
            <a:r>
              <a:rPr lang="en-US" sz="3200" dirty="0" smtClean="0">
                <a:solidFill>
                  <a:srgbClr val="FF0000"/>
                </a:solidFill>
                <a:latin typeface="Times New Roman" panose="02020603050405020304" pitchFamily="18" charset="0"/>
                <a:cs typeface="Times New Roman" panose="02020603050405020304" pitchFamily="18" charset="0"/>
              </a:rPr>
              <a:t>:</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81000" y="838200"/>
            <a:ext cx="8153399" cy="891251"/>
          </a:xfrm>
        </p:spPr>
        <p:txBody>
          <a:bodyPr>
            <a:normAutofit fontScale="25000" lnSpcReduction="20000"/>
          </a:bodyPr>
          <a:lstStyle/>
          <a:p>
            <a:pPr algn="just">
              <a:lnSpc>
                <a:spcPct val="150000"/>
              </a:lnSpc>
            </a:pPr>
            <a:r>
              <a:rPr lang="en-US" sz="9600" dirty="0" smtClean="0">
                <a:latin typeface="Times New Roman" panose="02020603050405020304" pitchFamily="18" charset="0"/>
                <a:cs typeface="Times New Roman" panose="02020603050405020304" pitchFamily="18" charset="0"/>
              </a:rPr>
              <a:t>Engineers, for instance, can employ these prototypes in real-time and over-the-air(OTA) setups in a variety of scenarios. Here two things are fundamental in creating prototypes for new technologies like terahertz communication: flexible hardware and software that allow engineers to iterate and optimize designs quickly.</a:t>
            </a:r>
          </a:p>
          <a:p>
            <a:pPr marL="109728" indent="0">
              <a:buNone/>
            </a:pPr>
            <a:endParaRPr lang="en-US" sz="9600" dirty="0">
              <a:latin typeface="Times New Roman" panose="02020603050405020304" pitchFamily="18" charset="0"/>
              <a:cs typeface="Times New Roman" panose="02020603050405020304" pitchFamily="18" charset="0"/>
            </a:endParaRPr>
          </a:p>
          <a:p>
            <a:pPr marL="109728" indent="0">
              <a:buNone/>
            </a:pPr>
            <a:r>
              <a:rPr lang="en-US" sz="5500" dirty="0" smtClean="0">
                <a:latin typeface="Times New Roman" panose="02020603050405020304" pitchFamily="18" charset="0"/>
                <a:cs typeface="Times New Roman" panose="02020603050405020304" pitchFamily="18" charset="0"/>
              </a:rPr>
              <a:t>	</a:t>
            </a:r>
            <a:endParaRPr lang="en-US" sz="5500" dirty="0" smtClean="0">
              <a:latin typeface="Times New Roman" panose="02020603050405020304" pitchFamily="18" charset="0"/>
              <a:cs typeface="Times New Roman" panose="02020603050405020304" pitchFamily="18" charset="0"/>
            </a:endParaRP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endParaRPr lang="en-US" sz="1800" dirty="0" smtClean="0">
              <a:latin typeface="Times New Roman" panose="02020603050405020304" pitchFamily="18" charset="0"/>
              <a:cs typeface="Times New Roman" panose="02020603050405020304" pitchFamily="18" charset="0"/>
            </a:endParaRP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endParaRPr lang="en-US" sz="1800" dirty="0" smtClean="0">
              <a:latin typeface="Times New Roman" panose="02020603050405020304" pitchFamily="18" charset="0"/>
              <a:cs typeface="Times New Roman" panose="02020603050405020304" pitchFamily="18" charset="0"/>
            </a:endParaRP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endParaRPr lang="en-US" sz="1800" dirty="0" smtClean="0">
              <a:latin typeface="Times New Roman" panose="02020603050405020304" pitchFamily="18" charset="0"/>
              <a:cs typeface="Times New Roman" panose="02020603050405020304" pitchFamily="18" charset="0"/>
            </a:endParaRP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endParaRPr lang="en-US" sz="18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2770762" y="3429000"/>
            <a:ext cx="3657600" cy="2232949"/>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TextBox 4"/>
          <p:cNvSpPr txBox="1"/>
          <p:nvPr/>
        </p:nvSpPr>
        <p:spPr>
          <a:xfrm>
            <a:off x="2057400" y="5661949"/>
            <a:ext cx="5439383"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3:- an SDR-based </a:t>
            </a:r>
            <a:r>
              <a:rPr lang="en-US" dirty="0" err="1">
                <a:latin typeface="Times New Roman" panose="02020603050405020304" pitchFamily="18" charset="0"/>
                <a:cs typeface="Times New Roman" panose="02020603050405020304" pitchFamily="18" charset="0"/>
              </a:rPr>
              <a:t>mmWave</a:t>
            </a:r>
            <a:r>
              <a:rPr lang="en-US" dirty="0">
                <a:latin typeface="Times New Roman" panose="02020603050405020304" pitchFamily="18" charset="0"/>
                <a:cs typeface="Times New Roman" panose="02020603050405020304" pitchFamily="18" charset="0"/>
              </a:rPr>
              <a:t> prototype at NYU wireless is reminiscent of the infrastructure required for investigating terahertz-band characteristics.</a:t>
            </a:r>
          </a:p>
          <a:p>
            <a:endParaRPr lang="en-US" dirty="0"/>
          </a:p>
        </p:txBody>
      </p:sp>
    </p:spTree>
    <p:extLst>
      <p:ext uri="{BB962C8B-B14F-4D97-AF65-F5344CB8AC3E}">
        <p14:creationId xmlns:p14="http://schemas.microsoft.com/office/powerpoint/2010/main" val="53859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435" y="152400"/>
            <a:ext cx="7803565" cy="1447799"/>
          </a:xfrm>
        </p:spPr>
        <p:txBody>
          <a:bodyPr>
            <a:normAutofit/>
          </a:bodyPr>
          <a:lstStyle/>
          <a:p>
            <a:r>
              <a:rPr lang="en-US" dirty="0" smtClean="0">
                <a:solidFill>
                  <a:srgbClr val="FF0000"/>
                </a:solidFill>
                <a:latin typeface="Times New Roman" panose="02020603050405020304" pitchFamily="18" charset="0"/>
                <a:cs typeface="Times New Roman" panose="02020603050405020304" pitchFamily="18" charset="0"/>
              </a:rPr>
              <a:t>Challenges with THz communication</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609600" y="1447800"/>
            <a:ext cx="5029200" cy="4191000"/>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THz communication band’s has high propagation losses and power limitations results in very short communication distance.</a:t>
            </a:r>
          </a:p>
          <a:p>
            <a:pPr algn="just"/>
            <a:r>
              <a:rPr lang="en-US" sz="2400" dirty="0" smtClean="0">
                <a:latin typeface="Times New Roman" panose="02020603050405020304" pitchFamily="18" charset="0"/>
                <a:cs typeface="Times New Roman" panose="02020603050405020304" pitchFamily="18" charset="0"/>
              </a:rPr>
              <a:t>Frequency dependent on molecular absorptions results in band-splitting and band reduction.</a:t>
            </a:r>
          </a:p>
          <a:p>
            <a:pPr algn="just"/>
            <a:r>
              <a:rPr lang="en-US" sz="2400" dirty="0" smtClean="0">
                <a:latin typeface="Times New Roman" panose="02020603050405020304" pitchFamily="18" charset="0"/>
                <a:cs typeface="Times New Roman" panose="02020603050405020304" pitchFamily="18" charset="0"/>
              </a:rPr>
              <a:t>Signal misalignment and blockage are also more severe at the THz band.</a:t>
            </a:r>
          </a:p>
          <a:p>
            <a:pPr marL="0" indent="0" algn="just">
              <a:buNone/>
            </a:pPr>
            <a:endParaRPr lang="en-US" dirty="0" smtClean="0">
              <a:latin typeface="Times New Roman" panose="02020603050405020304" pitchFamily="18" charset="0"/>
              <a:cs typeface="Times New Roman" panose="02020603050405020304" pitchFamily="18" charset="0"/>
            </a:endParaRPr>
          </a:p>
        </p:txBody>
      </p:sp>
      <p:pic>
        <p:nvPicPr>
          <p:cNvPr id="3074" name="Picture 2" descr="Antenna at Terahertz Band: Challenges, Fabrication and Specification |  SpringerLi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521778"/>
            <a:ext cx="2968625" cy="312642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82133" y="457201"/>
            <a:ext cx="4275667" cy="1295399"/>
          </a:xfrm>
        </p:spPr>
        <p:txBody>
          <a:bodyPr/>
          <a:lstStyle/>
          <a:p>
            <a:r>
              <a:rPr lang="en-US" dirty="0">
                <a:solidFill>
                  <a:srgbClr val="FF0000"/>
                </a:solidFill>
                <a:latin typeface="Times New Roman" pitchFamily="18" charset="0"/>
                <a:cs typeface="Times New Roman" pitchFamily="18" charset="0"/>
              </a:rPr>
              <a:t>APPLICATIONS:</a:t>
            </a:r>
          </a:p>
        </p:txBody>
      </p:sp>
      <p:sp>
        <p:nvSpPr>
          <p:cNvPr id="2" name="Content Placeholder 1"/>
          <p:cNvSpPr>
            <a:spLocks noGrp="1"/>
          </p:cNvSpPr>
          <p:nvPr>
            <p:ph idx="1"/>
          </p:nvPr>
        </p:nvSpPr>
        <p:spPr>
          <a:xfrm>
            <a:off x="457200" y="1524000"/>
            <a:ext cx="8229600" cy="5181600"/>
          </a:xfrm>
        </p:spPr>
        <p:txBody>
          <a:bodyPr>
            <a:normAutofit/>
          </a:bodyPr>
          <a:lstStyle/>
          <a:p>
            <a:r>
              <a:rPr lang="en-US" sz="2400" dirty="0" smtClean="0">
                <a:latin typeface="Times New Roman" pitchFamily="18" charset="0"/>
                <a:cs typeface="Times New Roman" pitchFamily="18" charset="0"/>
              </a:rPr>
              <a:t>THz sensing and imaging</a:t>
            </a:r>
          </a:p>
          <a:p>
            <a:r>
              <a:rPr lang="en-US" sz="2400" dirty="0" smtClean="0">
                <a:latin typeface="Times New Roman" pitchFamily="18" charset="0"/>
                <a:cs typeface="Times New Roman" pitchFamily="18" charset="0"/>
              </a:rPr>
              <a:t>Localization</a:t>
            </a:r>
          </a:p>
          <a:p>
            <a:r>
              <a:rPr lang="en-US" sz="2400" dirty="0" smtClean="0">
                <a:latin typeface="Times New Roman" pitchFamily="18" charset="0"/>
                <a:cs typeface="Times New Roman" pitchFamily="18" charset="0"/>
              </a:rPr>
              <a:t>6G and beyond cases</a:t>
            </a:r>
          </a:p>
          <a:p>
            <a:r>
              <a:rPr lang="en-US" sz="2400" dirty="0" smtClean="0">
                <a:latin typeface="Times New Roman" pitchFamily="18" charset="0"/>
                <a:cs typeface="Times New Roman" pitchFamily="18" charset="0"/>
              </a:rPr>
              <a:t>Implementation aspects</a:t>
            </a:r>
          </a:p>
          <a:p>
            <a:r>
              <a:rPr lang="en-US" sz="2400" dirty="0" smtClean="0">
                <a:latin typeface="Times New Roman" pitchFamily="18" charset="0"/>
                <a:cs typeface="Times New Roman" pitchFamily="18" charset="0"/>
              </a:rPr>
              <a:t>Roles in machine learning</a:t>
            </a:r>
          </a:p>
          <a:p>
            <a:r>
              <a:rPr lang="en-US" sz="2400" dirty="0" smtClean="0">
                <a:latin typeface="Times New Roman" pitchFamily="18" charset="0"/>
                <a:cs typeface="Times New Roman" pitchFamily="18" charset="0"/>
              </a:rPr>
              <a:t>Health and privacy concern</a:t>
            </a:r>
          </a:p>
          <a:p>
            <a:r>
              <a:rPr lang="en-US" sz="2400" dirty="0" smtClean="0">
                <a:latin typeface="Times New Roman" pitchFamily="18" charset="0"/>
                <a:cs typeface="Times New Roman" pitchFamily="18" charset="0"/>
              </a:rPr>
              <a:t>Drone to drone communications</a:t>
            </a:r>
          </a:p>
          <a:p>
            <a:pPr>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9428" y="1138947"/>
            <a:ext cx="3804971" cy="3585453"/>
          </a:xfrm>
          <a:prstGeom prst="rect">
            <a:avLst/>
          </a:prstGeom>
          <a:effectLst>
            <a:glow rad="228600">
              <a:schemeClr val="accent3">
                <a:satMod val="175000"/>
                <a:alpha val="40000"/>
              </a:schemeClr>
            </a:glo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86525" y="458822"/>
            <a:ext cx="3742267" cy="1002267"/>
          </a:xfrm>
        </p:spPr>
        <p:txBody>
          <a:bodyPr/>
          <a:lstStyle/>
          <a:p>
            <a:r>
              <a:rPr lang="en-US" dirty="0">
                <a:solidFill>
                  <a:srgbClr val="FF0000"/>
                </a:solidFill>
                <a:latin typeface="Times New Roman" pitchFamily="18" charset="0"/>
                <a:cs typeface="Times New Roman" pitchFamily="18" charset="0"/>
              </a:rPr>
              <a:t>ADVANTAGES:</a:t>
            </a:r>
          </a:p>
        </p:txBody>
      </p:sp>
      <p:sp>
        <p:nvSpPr>
          <p:cNvPr id="2" name="Content Placeholder 1"/>
          <p:cNvSpPr>
            <a:spLocks noGrp="1"/>
          </p:cNvSpPr>
          <p:nvPr>
            <p:ph idx="1"/>
          </p:nvPr>
        </p:nvSpPr>
        <p:spPr>
          <a:xfrm>
            <a:off x="982133" y="1459468"/>
            <a:ext cx="7693318" cy="3722132"/>
          </a:xfrm>
        </p:spPr>
        <p:txBody>
          <a:bodyPr anchor="t">
            <a:normAutofit/>
          </a:bodyPr>
          <a:lstStyle/>
          <a:p>
            <a:pPr>
              <a:lnSpc>
                <a:spcPct val="150000"/>
              </a:lnSpc>
            </a:pPr>
            <a:r>
              <a:rPr lang="en-US" dirty="0" smtClean="0">
                <a:latin typeface="Times New Roman" pitchFamily="18" charset="0"/>
                <a:cs typeface="Times New Roman" pitchFamily="18" charset="0"/>
              </a:rPr>
              <a:t>Enhanced energy.</a:t>
            </a:r>
          </a:p>
          <a:p>
            <a:pPr>
              <a:lnSpc>
                <a:spcPct val="150000"/>
              </a:lnSpc>
            </a:pPr>
            <a:r>
              <a:rPr lang="en-US" dirty="0" smtClean="0">
                <a:latin typeface="Times New Roman" pitchFamily="18" charset="0"/>
                <a:cs typeface="Times New Roman" pitchFamily="18" charset="0"/>
              </a:rPr>
              <a:t>Backward compatibility with mmwave bands.</a:t>
            </a:r>
          </a:p>
          <a:p>
            <a:pPr>
              <a:lnSpc>
                <a:spcPct val="150000"/>
              </a:lnSpc>
            </a:pPr>
            <a:r>
              <a:rPr lang="en-US" dirty="0" smtClean="0">
                <a:latin typeface="Times New Roman" pitchFamily="18" charset="0"/>
                <a:cs typeface="Times New Roman" pitchFamily="18" charset="0"/>
              </a:rPr>
              <a:t>THz communication band has a lesser impact on the human body because of its non ionizing </a:t>
            </a:r>
            <a:r>
              <a:rPr lang="en-US" dirty="0" smtClean="0">
                <a:latin typeface="Times New Roman" pitchFamily="18" charset="0"/>
                <a:cs typeface="Times New Roman" pitchFamily="18" charset="0"/>
              </a:rPr>
              <a:t>nature</a:t>
            </a:r>
          </a:p>
          <a:p>
            <a:pPr>
              <a:lnSpc>
                <a:spcPct val="150000"/>
              </a:lnSpc>
            </a:pPr>
            <a:r>
              <a:rPr lang="en-US" dirty="0" smtClean="0">
                <a:latin typeface="Times New Roman" pitchFamily="18" charset="0"/>
                <a:cs typeface="Times New Roman" pitchFamily="18" charset="0"/>
              </a:rPr>
              <a:t>Advance image and sensing</a:t>
            </a:r>
            <a:endParaRPr lang="en-US" dirty="0" smtClean="0">
              <a:latin typeface="Times New Roman" pitchFamily="18" charset="0"/>
              <a:cs typeface="Times New Roman" pitchFamily="18" charset="0"/>
            </a:endParaRPr>
          </a:p>
          <a:p>
            <a:pPr marL="109728" indent="0">
              <a:lnSpc>
                <a:spcPct val="150000"/>
              </a:lnSpc>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5037667" cy="1371599"/>
          </a:xfrm>
        </p:spPr>
        <p:txBody>
          <a:bodyPr anchor="t"/>
          <a:lstStyle/>
          <a:p>
            <a:r>
              <a:rPr lang="en-US" dirty="0" smtClean="0">
                <a:solidFill>
                  <a:srgbClr val="FF0000"/>
                </a:solidFill>
                <a:latin typeface="Times New Roman" panose="02020603050405020304" pitchFamily="18" charset="0"/>
                <a:cs typeface="Times New Roman" panose="02020603050405020304" pitchFamily="18" charset="0"/>
              </a:rPr>
              <a:t>DISADVANTAGES:</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295400"/>
            <a:ext cx="7704667" cy="3332816"/>
          </a:xfrm>
        </p:spPr>
        <p:txBody>
          <a:bodyPr>
            <a:normAutofit/>
          </a:bodyPr>
          <a:lstStyle/>
          <a:p>
            <a:pPr>
              <a:lnSpc>
                <a:spcPct val="150000"/>
              </a:lnSpc>
            </a:pPr>
            <a:r>
              <a:rPr lang="en-US" sz="2400" dirty="0" smtClean="0"/>
              <a:t>Atmospheric absorption</a:t>
            </a:r>
          </a:p>
          <a:p>
            <a:pPr>
              <a:lnSpc>
                <a:spcPct val="150000"/>
              </a:lnSpc>
            </a:pPr>
            <a:r>
              <a:rPr lang="en-US" sz="2400" dirty="0" smtClean="0"/>
              <a:t>Required clear line of sight</a:t>
            </a:r>
          </a:p>
          <a:p>
            <a:pPr>
              <a:lnSpc>
                <a:spcPct val="150000"/>
              </a:lnSpc>
            </a:pPr>
            <a:r>
              <a:rPr lang="en-US" sz="2400" dirty="0" smtClean="0"/>
              <a:t>Complex construction</a:t>
            </a:r>
          </a:p>
          <a:p>
            <a:pPr>
              <a:lnSpc>
                <a:spcPct val="150000"/>
              </a:lnSpc>
            </a:pPr>
            <a:r>
              <a:rPr lang="en-US" sz="2400" dirty="0" smtClean="0"/>
              <a:t>Limited range</a:t>
            </a:r>
          </a:p>
        </p:txBody>
      </p:sp>
    </p:spTree>
    <p:extLst>
      <p:ext uri="{BB962C8B-B14F-4D97-AF65-F5344CB8AC3E}">
        <p14:creationId xmlns:p14="http://schemas.microsoft.com/office/powerpoint/2010/main" val="34846764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3105" y="-157263"/>
            <a:ext cx="6477000" cy="990599"/>
          </a:xfrm>
        </p:spPr>
        <p:txBody>
          <a:bodyPr>
            <a:normAutofit/>
          </a:bodyPr>
          <a:lstStyle/>
          <a:p>
            <a:r>
              <a:rPr lang="en-US" dirty="0" smtClean="0">
                <a:solidFill>
                  <a:srgbClr val="FF0000"/>
                </a:solidFill>
                <a:latin typeface="Times New Roman" pitchFamily="18" charset="0"/>
                <a:cs typeface="Times New Roman" pitchFamily="18" charset="0"/>
              </a:rPr>
              <a:t>THz </a:t>
            </a:r>
            <a:r>
              <a:rPr lang="en-US" dirty="0" smtClean="0">
                <a:solidFill>
                  <a:srgbClr val="FF0000"/>
                </a:solidFill>
                <a:latin typeface="Times New Roman" pitchFamily="18" charset="0"/>
                <a:cs typeface="Times New Roman" pitchFamily="18" charset="0"/>
              </a:rPr>
              <a:t>PROPOSED SYSTEM:</a:t>
            </a:r>
            <a:endParaRPr lang="en-US" dirty="0">
              <a:solidFill>
                <a:srgbClr val="FF0000"/>
              </a:solidFill>
              <a:latin typeface="Times New Roman" pitchFamily="18" charset="0"/>
              <a:cs typeface="Times New Roman" pitchFamily="18" charset="0"/>
            </a:endParaRPr>
          </a:p>
        </p:txBody>
      </p:sp>
      <p:sp>
        <p:nvSpPr>
          <p:cNvPr id="2" name="Content Placeholder 1"/>
          <p:cNvSpPr>
            <a:spLocks noGrp="1"/>
          </p:cNvSpPr>
          <p:nvPr>
            <p:ph idx="1"/>
          </p:nvPr>
        </p:nvSpPr>
        <p:spPr>
          <a:xfrm>
            <a:off x="307975" y="307874"/>
            <a:ext cx="5334000" cy="8510168"/>
          </a:xfrm>
        </p:spPr>
        <p:txBody>
          <a:bodyPr>
            <a:normAutofit/>
          </a:bodyPr>
          <a:lstStyle/>
          <a:p>
            <a:pPr marL="109728" indent="0" algn="just">
              <a:lnSpc>
                <a:spcPct val="150000"/>
              </a:lnSpc>
            </a:pPr>
            <a:r>
              <a:rPr lang="en-US" sz="2400" dirty="0" smtClean="0">
                <a:latin typeface="Times New Roman" pitchFamily="18" charset="0"/>
                <a:cs typeface="Times New Roman" pitchFamily="18" charset="0"/>
              </a:rPr>
              <a:t>The 5G dynamo is opening the floodgates of wireless bandwidth, and once mmWave bands move toward wider adoption and proliferation for 5G and other communication use cases, terahertz band like 140 GHz are inevitably going to be the next in line.</a:t>
            </a:r>
          </a:p>
          <a:p>
            <a:pPr marL="109728" indent="0" algn="just">
              <a:lnSpc>
                <a:spcPct val="150000"/>
              </a:lnSpc>
            </a:pPr>
            <a:r>
              <a:rPr lang="en-US" sz="2400" dirty="0" smtClean="0">
                <a:latin typeface="Times New Roman" pitchFamily="18" charset="0"/>
                <a:cs typeface="Times New Roman" pitchFamily="18" charset="0"/>
              </a:rPr>
              <a:t>That may not be very far away amid the speech of wireless technology advancements, so industry player need to start preparing for wireless communication above 100GHz. </a:t>
            </a:r>
          </a:p>
        </p:txBody>
      </p:sp>
      <p:sp>
        <p:nvSpPr>
          <p:cNvPr id="4" name="AutoShape 2" descr="The block diagram of the terahertz wireless communication system.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The block diagram of the terahertz wireless communication system. |  Download Scientific Diagram"/>
          <p:cNvSpPr>
            <a:spLocks noChangeAspect="1" noChangeArrowheads="1"/>
          </p:cNvSpPr>
          <p:nvPr/>
        </p:nvSpPr>
        <p:spPr bwMode="auto">
          <a:xfrm>
            <a:off x="307975" y="7937"/>
            <a:ext cx="830260" cy="8302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From Terahertz Imaging to Terahertz Wireless Communications - ScienceDi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8060" y="1643972"/>
            <a:ext cx="3759740" cy="3461427"/>
          </a:xfrm>
          <a:prstGeom prst="rect">
            <a:avLst/>
          </a:prstGeom>
          <a:noFill/>
          <a:effectLst>
            <a:innerShdw blurRad="63500" dist="50800" dir="10800000">
              <a:prstClr val="black">
                <a:alpha val="50000"/>
              </a:prstClr>
            </a:inn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29733" y="-304800"/>
            <a:ext cx="5571067" cy="1371600"/>
          </a:xfrm>
        </p:spPr>
        <p:txBody>
          <a:bodyPr/>
          <a:lstStyle/>
          <a:p>
            <a:r>
              <a:rPr lang="en-US" dirty="0" smtClean="0">
                <a:solidFill>
                  <a:srgbClr val="FF0000"/>
                </a:solidFill>
                <a:latin typeface="Times New Roman" pitchFamily="18" charset="0"/>
                <a:cs typeface="Times New Roman" pitchFamily="18" charset="0"/>
              </a:rPr>
              <a:t>CONCLUSION:</a:t>
            </a:r>
            <a:endParaRPr lang="en-US" dirty="0">
              <a:solidFill>
                <a:srgbClr val="FF0000"/>
              </a:solidFill>
              <a:latin typeface="Times New Roman" pitchFamily="18" charset="0"/>
              <a:cs typeface="Times New Roman" pitchFamily="18" charset="0"/>
            </a:endParaRPr>
          </a:p>
        </p:txBody>
      </p:sp>
      <p:sp>
        <p:nvSpPr>
          <p:cNvPr id="6" name="Content Placeholder 5"/>
          <p:cNvSpPr>
            <a:spLocks noGrp="1"/>
          </p:cNvSpPr>
          <p:nvPr>
            <p:ph idx="1"/>
          </p:nvPr>
        </p:nvSpPr>
        <p:spPr>
          <a:xfrm>
            <a:off x="457200" y="685800"/>
            <a:ext cx="8001000" cy="4800600"/>
          </a:xfrm>
        </p:spPr>
        <p:txBody>
          <a:bodyPr>
            <a:noAutofit/>
          </a:bodyPr>
          <a:lstStyle/>
          <a:p>
            <a:pPr algn="just"/>
            <a:r>
              <a:rPr lang="en-US" sz="2400" dirty="0">
                <a:latin typeface="Times New Roman" panose="02020603050405020304" pitchFamily="18" charset="0"/>
                <a:cs typeface="Times New Roman" panose="02020603050405020304" pitchFamily="18" charset="0"/>
              </a:rPr>
              <a:t>In conclusion, terahertz (THz) communication holds significant promise for the future of wireless technology, offering advantages such as high bandwidth, low latency, and enhanced security. Its ability to support dense data transmission and provide immunity to electromagnetic interference makes it particularly appealing for short-range applications and high-demand environments. However, challenges like limited range, atmospheric absorption, and the need for complex equipment must be addressed for practical implementation. </a:t>
            </a:r>
          </a:p>
        </p:txBody>
      </p:sp>
      <p:pic>
        <p:nvPicPr>
          <p:cNvPr id="2050" name="Picture 2" descr="Terahertz series: Part 1 What is terahertz? | SoftBank Research Institute  of Advanced Technology | About Us | SoftBank"/>
          <p:cNvPicPr>
            <a:picLocks noChangeAspect="1" noChangeArrowheads="1"/>
          </p:cNvPicPr>
          <p:nvPr/>
        </p:nvPicPr>
        <p:blipFill rotWithShape="1">
          <a:blip r:embed="rId2">
            <a:extLst>
              <a:ext uri="{28A0092B-C50C-407E-A947-70E740481C1C}">
                <a14:useLocalDpi xmlns:a14="http://schemas.microsoft.com/office/drawing/2010/main" val="0"/>
              </a:ext>
            </a:extLst>
          </a:blip>
          <a:srcRect t="11490" b="2872"/>
          <a:stretch/>
        </p:blipFill>
        <p:spPr bwMode="auto">
          <a:xfrm>
            <a:off x="1295400" y="4114800"/>
            <a:ext cx="6972301" cy="227171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819400" y="1371600"/>
            <a:ext cx="5943600" cy="3276600"/>
          </a:xfrm>
        </p:spPr>
        <p:txBody>
          <a:bodyPr>
            <a:normAutofit/>
          </a:bodyPr>
          <a:lstStyle/>
          <a:p>
            <a:r>
              <a:rPr lang="en-US" sz="480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itchFamily="18" charset="0"/>
                <a:cs typeface="Times New Roman" pitchFamily="18" charset="0"/>
              </a:rPr>
              <a:t>THANK YOU</a:t>
            </a:r>
            <a:endParaRPr lang="en-US" sz="4800" dirty="0">
              <a:solidFill>
                <a:srgbClr val="0070C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759</TotalTime>
  <Words>616</Words>
  <Application>Microsoft Office PowerPoint</Application>
  <PresentationFormat>On-screen Show (4:3)</PresentationFormat>
  <Paragraphs>79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 KAKATIYA INSTITUTE OF TECHNOLOGY                       &amp; SCIENCE FOR WOMEN</vt:lpstr>
      <vt:lpstr>ABSTRACT:</vt:lpstr>
      <vt:lpstr>CONTENTS:</vt:lpstr>
      <vt:lpstr>INTRODUCTION:</vt:lpstr>
      <vt:lpstr>PowerPoint Presentation</vt:lpstr>
      <vt:lpstr>THz uses:</vt:lpstr>
      <vt:lpstr>PROTOTYPING THz :</vt:lpstr>
      <vt:lpstr>Challenges with THz communication</vt:lpstr>
      <vt:lpstr>APPLICATIONS:</vt:lpstr>
      <vt:lpstr>ADVANTAGES:</vt:lpstr>
      <vt:lpstr>DISADVANTAGES:</vt:lpstr>
      <vt:lpstr>THz PROPOSED SYSTEM:</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SEMINAR ON  CONTROLLER AREA NETWORK</dc:title>
  <dc:creator>Dell</dc:creator>
  <cp:lastModifiedBy>Ragasri</cp:lastModifiedBy>
  <cp:revision>78</cp:revision>
  <dcterms:created xsi:type="dcterms:W3CDTF">2023-08-25T11:49:33Z</dcterms:created>
  <dcterms:modified xsi:type="dcterms:W3CDTF">2024-10-24T16:17:39Z</dcterms:modified>
</cp:coreProperties>
</file>